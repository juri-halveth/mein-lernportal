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5c6f457aef4fdc" /><Relationship Type="http://schemas.openxmlformats.org/officeDocument/2006/relationships/extended-properties" Target="/docProps/app.xml" Id="Rca77339ff0ee459e" /><Relationship Type="http://schemas.openxmlformats.org/officeDocument/2006/relationships/officeDocument" Target="/ppt/presentation.xml" Id="R9860b736b01d41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1fdde771f740dd"/>
  </p:sldMasterIdLst>
  <p:notesMasterIdLst>
    <p:notesMasterId xmlns:r="http://schemas.openxmlformats.org/officeDocument/2006/relationships" r:id="R46f44d025b184eab"/>
  </p:notesMasterIdLst>
  <p:sldIdLst>
    <p:sldId xmlns:r="http://schemas.openxmlformats.org/officeDocument/2006/relationships" id="256" r:id="R7cec249639b74c1f"/>
    <p:sldId xmlns:r="http://schemas.openxmlformats.org/officeDocument/2006/relationships" id="257" r:id="Rb1f13d9ad9bb4fd4"/>
    <p:sldId xmlns:r="http://schemas.openxmlformats.org/officeDocument/2006/relationships" id="258" r:id="R712649b38c794afb"/>
    <p:sldId xmlns:r="http://schemas.openxmlformats.org/officeDocument/2006/relationships" id="259" r:id="R8074ec8f19ee4da2"/>
    <p:sldId xmlns:r="http://schemas.openxmlformats.org/officeDocument/2006/relationships" id="260" r:id="R80c4ddb08ab34706"/>
    <p:sldId xmlns:r="http://schemas.openxmlformats.org/officeDocument/2006/relationships" id="261" r:id="R0f9e65d17405478e"/>
    <p:sldId xmlns:r="http://schemas.openxmlformats.org/officeDocument/2006/relationships" id="262" r:id="R853a59d486f140bd"/>
    <p:sldId xmlns:r="http://schemas.openxmlformats.org/officeDocument/2006/relationships" id="263" r:id="R6335795019214f3c"/>
    <p:sldId xmlns:r="http://schemas.openxmlformats.org/officeDocument/2006/relationships" id="264" r:id="R8c12943856e14f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65877b60f74fcb" /><Relationship Type="http://schemas.openxmlformats.org/officeDocument/2006/relationships/slideMaster" Target="/ppt/slideMasters/slideMaster1.xml" Id="R701fdde771f740dd" /><Relationship Type="http://schemas.openxmlformats.org/officeDocument/2006/relationships/notesMaster" Target="/ppt/notesMasters/notesMaster1.xml" Id="R46f44d025b184eab" /><Relationship Type="http://schemas.openxmlformats.org/officeDocument/2006/relationships/presProps" Target="/ppt/presProps.xml" Id="R08170d61e1a44c20" /><Relationship Type="http://schemas.openxmlformats.org/officeDocument/2006/relationships/tableStyles" Target="/ppt/tableStyles.xml" Id="Rca552dbcbb444038" /><Relationship Type="http://schemas.openxmlformats.org/officeDocument/2006/relationships/slide" Target="/ppt/slides/slide1.xml" Id="R7cec249639b74c1f" /><Relationship Type="http://schemas.openxmlformats.org/officeDocument/2006/relationships/slide" Target="/ppt/slides/slide2.xml" Id="Rb1f13d9ad9bb4fd4" /><Relationship Type="http://schemas.openxmlformats.org/officeDocument/2006/relationships/slide" Target="/ppt/slides/slide3.xml" Id="R712649b38c794afb" /><Relationship Type="http://schemas.openxmlformats.org/officeDocument/2006/relationships/slide" Target="/ppt/slides/slide4.xml" Id="R8074ec8f19ee4da2" /><Relationship Type="http://schemas.openxmlformats.org/officeDocument/2006/relationships/slide" Target="/ppt/slides/slide5.xml" Id="R80c4ddb08ab34706" /><Relationship Type="http://schemas.openxmlformats.org/officeDocument/2006/relationships/slide" Target="/ppt/slides/slide6.xml" Id="R0f9e65d17405478e" /><Relationship Type="http://schemas.openxmlformats.org/officeDocument/2006/relationships/slide" Target="/ppt/slides/slide7.xml" Id="R853a59d486f140bd" /><Relationship Type="http://schemas.openxmlformats.org/officeDocument/2006/relationships/slide" Target="/ppt/slides/slide8.xml" Id="R6335795019214f3c" /><Relationship Type="http://schemas.openxmlformats.org/officeDocument/2006/relationships/slide" Target="/ppt/slides/slide9.xml" Id="R8c12943856e14f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b5bbe7dca24c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974352891b4d56" /><Relationship Type="http://schemas.openxmlformats.org/officeDocument/2006/relationships/notesMaster" Target="/ppt/notesMasters/notesMaster1.xml" Id="Rfd018ed0ed814a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a49de5a6fa4128" /><Relationship Type="http://schemas.openxmlformats.org/officeDocument/2006/relationships/notesMaster" Target="/ppt/notesMasters/notesMaster1.xml" Id="R92b14b40927342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3b245d71e84ee7" /><Relationship Type="http://schemas.openxmlformats.org/officeDocument/2006/relationships/notesMaster" Target="/ppt/notesMasters/notesMaster1.xml" Id="Rceaf74ae40b34f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2b82ddc856446c" /><Relationship Type="http://schemas.openxmlformats.org/officeDocument/2006/relationships/notesMaster" Target="/ppt/notesMasters/notesMaster1.xml" Id="R66c11d9e95284b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27bdbbec604b03" /><Relationship Type="http://schemas.openxmlformats.org/officeDocument/2006/relationships/notesMaster" Target="/ppt/notesMasters/notesMaster1.xml" Id="Rff351276dda24f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4f51c9fe3943aa" /><Relationship Type="http://schemas.openxmlformats.org/officeDocument/2006/relationships/notesMaster" Target="/ppt/notesMasters/notesMaster1.xml" Id="R20ba5168ba0645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d24c8620444d11" /><Relationship Type="http://schemas.openxmlformats.org/officeDocument/2006/relationships/notesMaster" Target="/ppt/notesMasters/notesMaster1.xml" Id="R667bb063503d4e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b4fd071e334173" /><Relationship Type="http://schemas.openxmlformats.org/officeDocument/2006/relationships/notesMaster" Target="/ppt/notesMasters/notesMaster1.xml" Id="Reeade7fa4a9347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476ddd7cd34498" /><Relationship Type="http://schemas.openxmlformats.org/officeDocument/2006/relationships/notesMaster" Target="/ppt/notesMasters/notesMaster1.xml" Id="R004e825b8fd241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LEVIATH_SIMPLE_PRESTIGE_II_V0_5_ATH.zip, README.md, PROTOCOL.md und LEVIATH.Simple.ps1. Lokaler Funktionstest: LEVIATH_TECHNIK_PRUEFRECEIPT.json, 03.10.2026. ATH ist die vom Nutzer festgelegte Einheitenbezeichnung.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LEVIATH_SIMPLE_PRESTIGE_II_V0_5_ATH.zip, README.md, PROTOCOL.md und LEVIATH.Simple.ps1. Lokaler Funktionstest: LEVIATH_TECHNIK_PRUEFRECEIPT.json, 03.10.2026. ATH ist die vom Nutzer festgelegte Einheitenbezeichnung.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LEVIATH_SIMPLE_PRESTIGE_II_V0_5_ATH.zip, README.md, PROTOCOL.md und LEVIATH.Simple.ps1. Lokaler Funktionstest: LEVIATH_TECHNIK_PRUEFRECEIPT.json, 03.10.2026. ATH ist die vom Nutzer festgelegte Einheitenbezeichnung. Beispiel Anna ist erfunden. Die Höhe einer Vergütung entscheidet ein Betreiber nach einer gesonderten Regel.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LEVIATH_SIMPLE_PRESTIGE_II_V0_5_ATH.zip, README.md, PROTOCOL.md und LEVIATH.Simple.ps1. Lokaler Funktionstest: LEVIATH_TECHNIK_PRUEFRECEIPT.json, 03.10.2026. ATH ist die vom Nutzer festgelegte Einheitenbezeichnung. Didaktisches Beispiel: Anna besitzt zunächst 10 ATH, Ben 0 ATH. Anna überträgt 3 ATH. V0.5 erhebt keine Protokollgebühr.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LEVIATH_SIMPLE_PRESTIGE_II_V0_5_ATH.zip, README.md, PROTOCOL.md und LEVIATH.Simple.ps1. Lokaler Funktionstest: LEVIATH_TECHNIK_PRUEFRECEIPT.json, 03.10.2026. ATH ist die vom Nutzer festgelegte Einheitenbezeichnung.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LEVIATH_SIMPLE_PRESTIGE_II_V0_5_ATH.zip, README.md, PROTOCOL.md und LEVIATH.Simple.ps1. Lokaler Funktionstest: LEVIATH_TECHNIK_PRUEFRECEIPT.json, 03.10.2026. ATH ist die vom Nutzer festgelegte Einheitenbezeichnung. Voreingestelltes Beispiel 10 Prozent. Verhältnis 9 zu 1 nur für diesen Bootstrap-Vertrag. Nach Ausschöpfung endet der Sonderpfad; spätere Ausgabe kann prozentuale Anteile verwässern.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Quelle: LEVIATH_COLD_RED_BIG_BANG_V0_3_ATH.zip, Controller und Node-Skript. Eigener Lauf: drei getrennte Prozesse auf demselben Rechner; Block mit drei Signaturen, danach Block mit zwei Signaturen. Controller baut und speichert Blöcke, Nodes signieren Proposal-Hashes. V0.3 und V0.5 sind getrennte Pakete.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LEVIATH_SIMPLE_PRESTIGE_II_V0_5_ATH.zip, README.md, PROTOCOL.md und LEVIATH.Simple.ps1. Lokaler Funktionstest: LEVIATH_TECHNIK_PRUEFRECEIPT.json, 03.10.2026. ATH ist die vom Nutzer festgelegte Einheitenbezeichnung. V0.5: 14 Selbsttests, neun Integrationsprüfungen. V0.3 separat funktional geprüft. Einnahmenverteilung ist Buchhaltung, kein externer Zahlungsverkehr.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LEVIATH_SIMPLE_PRESTIGE_II_V0_5_ATH.zip, README.md, PROTOCOL.md und LEVIATH.Simple.ps1. Lokaler Funktionstest: LEVIATH_TECHNIK_PRUEFRECEIPT.json, 03.10.2026. ATH ist die vom Nutzer festgelegte Einheitenbezeichnung. Projektzweck als Gestaltungsidee. Keine zugesagte Einlösbarkeit, kein Eigentums- oder Rechtsanspruch durch Guthaben. Offene Integration: Mehrrechnerbetrieb, gemeinsames Ledger und externe Zahlungen.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3fb9adb59b41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79d636c1e540b0" /><Relationship Type="http://schemas.openxmlformats.org/officeDocument/2006/relationships/slideLayout" Target="/ppt/slideLayouts/slideLayout1.xml" Id="R1e7b29daabe148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7b29daabe148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23941d626455b" /><Relationship Type="http://schemas.openxmlformats.org/officeDocument/2006/relationships/notesSlide" Target="/ppt/notesSlides/notesSlide1.xml" Id="R57ed1d577a7849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6e51589944c06" /><Relationship Type="http://schemas.openxmlformats.org/officeDocument/2006/relationships/notesSlide" Target="/ppt/notesSlides/notesSlide2.xml" Id="Re99564d8fc9b40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66ac27a7845b2" /><Relationship Type="http://schemas.openxmlformats.org/officeDocument/2006/relationships/notesSlide" Target="/ppt/notesSlides/notesSlide3.xml" Id="Rbc4d849fba0043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dda2840f04e64" /><Relationship Type="http://schemas.openxmlformats.org/officeDocument/2006/relationships/notesSlide" Target="/ppt/notesSlides/notesSlide4.xml" Id="R52f9249b6ad44d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cafa9da9a241cf" /><Relationship Type="http://schemas.openxmlformats.org/officeDocument/2006/relationships/notesSlide" Target="/ppt/notesSlides/notesSlide5.xml" Id="R7e1f19df2aea44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2926eeed64a50" /><Relationship Type="http://schemas.openxmlformats.org/officeDocument/2006/relationships/notesSlide" Target="/ppt/notesSlides/notesSlide6.xml" Id="R9c224ebd7a664b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e63a2889d425d" /><Relationship Type="http://schemas.openxmlformats.org/officeDocument/2006/relationships/notesSlide" Target="/ppt/notesSlides/notesSlide7.xml" Id="R5bae7ddba22849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df5accfbb48b1" /><Relationship Type="http://schemas.openxmlformats.org/officeDocument/2006/relationships/notesSlide" Target="/ppt/notesSlides/notesSlide8.xml" Id="Rd50479ad28cb46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12736fb2a144a8" /><Relationship Type="http://schemas.openxmlformats.org/officeDocument/2006/relationships/notesSlide" Target="/ppt/notesSlides/notesSlide9.xml" Id="R10857db54baf49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E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59519-3703-476C-AEF8-95A3F618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6F2E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6F2E9"/>
                </a:solidFill>
                <a:latin typeface="Arial"/>
                <a:ea typeface="Arial"/>
                <a:cs typeface="Arial"/>
              </a:rPr>
              <a:t>ATH — einfach erklärt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547410-132C-4332-9063-B3445BAD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6F2E9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6F2E9"/>
                </a:solidFill>
                <a:latin typeface="Arial"/>
                <a:ea typeface="Arial"/>
                <a:cs typeface="Arial"/>
              </a:rPr>
              <a:t>Was ist das eigentlich?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14AB4-5C0C-4DB7-AE51-B9F7D538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6F2E9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6F2E9"/>
                </a:solidFill>
                <a:latin typeface="Arial"/>
                <a:ea typeface="Arial"/>
                <a:cs typeface="Arial"/>
              </a:rPr>
              <a:t>Die digitale Einheit im Projekt LEVIATH.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17EB4-1D1F-4A99-BB7A-713E6E1D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5C9C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5C9C7"/>
                </a:solidFill>
                <a:latin typeface="Arial"/>
                <a:ea typeface="Arial"/>
                <a:cs typeface="Arial"/>
              </a:rPr>
              <a:t>Stand: 3. Oktober 2026 · lokaler Prototyp</a:t>
            </a:r>
          </a:p>
        </p:txBody>
      </p:sp>
    </p:spTree>
    <p:extLst>
      <p:ext uri="{BB962C8B-B14F-4D97-AF65-F5344CB8AC3E}">
        <p14:creationId xmlns:p14="http://schemas.microsoft.com/office/powerpoint/2010/main" val="5150273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A7DA1-A3A1-4BD8-A0B2-AC0A1C2B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2E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E35"/>
                </a:solidFill>
                <a:latin typeface="Arial"/>
                <a:ea typeface="Arial"/>
                <a:cs typeface="Arial"/>
              </a:rPr>
              <a:t>LEVIATH ist das Buch. ATH ist die Einheit.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1AB35-A2B7-47EE-B732-A01716A8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87F7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87F74"/>
                </a:solidFill>
                <a:latin typeface="Arial"/>
                <a:ea typeface="Arial"/>
                <a:cs typeface="Arial"/>
              </a:rPr>
              <a:t>LEVIATH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E699C-4059-496D-8E08-DCEFB30F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4857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E3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E35"/>
                </a:solidFill>
                <a:latin typeface="Arial"/>
                <a:ea typeface="Arial"/>
                <a:cs typeface="Arial"/>
              </a:rPr>
              <a:t>Das Programm führt Buch:</a:t>
            </a:r>
          </a:p>
          <a:p xmlns:a="http://schemas.openxmlformats.org/drawingml/2006/main">
            <a:pPr>
              <a:defRPr sz="2250" b="0">
                <a:solidFill>
                  <a:srgbClr val="152E3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E35"/>
                </a:solidFill>
                <a:latin typeface="Arial"/>
                <a:ea typeface="Arial"/>
                <a:cs typeface="Arial"/>
              </a:rPr>
              <a:t>Wer hat welchen Beitrag eingebracht?</a:t>
            </a:r>
          </a:p>
          <a:p xmlns:a="http://schemas.openxmlformats.org/drawingml/2006/main">
            <a:pPr>
              <a:defRPr sz="2250" b="0">
                <a:solidFill>
                  <a:srgbClr val="152E3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E35"/>
                </a:solidFill>
                <a:latin typeface="Arial"/>
                <a:ea typeface="Arial"/>
                <a:cs typeface="Arial"/>
              </a:rPr>
              <a:t>Wer hat welches Guthaben?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888DD-4C14-4F4E-9105-D4423172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C4512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C4512D"/>
                </a:solidFill>
                <a:latin typeface="Arial"/>
                <a:ea typeface="Arial"/>
                <a:cs typeface="Arial"/>
              </a:rPr>
              <a:t>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DA767B-E727-41A1-A373-62AA7D47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48000"/>
            <a:ext cx="4572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2E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E35"/>
                </a:solidFill>
                <a:latin typeface="Arial"/>
                <a:ea typeface="Arial"/>
                <a:cs typeface="Arial"/>
              </a:rPr>
              <a:t>So heißen die Einheiten,</a:t>
            </a:r>
          </a:p>
          <a:p xmlns:a="http://schemas.openxmlformats.org/drawingml/2006/main">
            <a:pPr>
              <a:defRPr sz="2400" b="0">
                <a:solidFill>
                  <a:srgbClr val="152E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E35"/>
                </a:solidFill>
                <a:latin typeface="Arial"/>
                <a:ea typeface="Arial"/>
                <a:cs typeface="Arial"/>
              </a:rPr>
              <a:t>die das Programm zählt</a:t>
            </a:r>
          </a:p>
          <a:p xmlns:a="http://schemas.openxmlformats.org/drawingml/2006/main">
            <a:pPr>
              <a:defRPr sz="2400" b="0">
                <a:solidFill>
                  <a:srgbClr val="152E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E35"/>
                </a:solidFill>
                <a:latin typeface="Arial"/>
                <a:ea typeface="Arial"/>
                <a:cs typeface="Arial"/>
              </a:rPr>
              <a:t>und übertragen kann.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B2ED0-EBE9-42E6-B2E8-549A374E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E3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E35"/>
                </a:solidFill>
                <a:latin typeface="Arial"/>
                <a:ea typeface="Arial"/>
                <a:cs typeface="Arial"/>
              </a:rPr>
              <a:t>Das Buch läuft heute lokal. Eine ATH-Einheit hat noch keinen belegten Geldwert.</a:t>
            </a:r>
          </a:p>
        </p:txBody>
      </p:sp>
    </p:spTree>
    <p:extLst>
      <p:ext uri="{BB962C8B-B14F-4D97-AF65-F5344CB8AC3E}">
        <p14:creationId xmlns:p14="http://schemas.microsoft.com/office/powerpoint/2010/main" val="11146900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A35714-E410-43C2-A40C-59D895B0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2E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E35"/>
                </a:solidFill>
                <a:latin typeface="Arial"/>
                <a:ea typeface="Arial"/>
                <a:cs typeface="Arial"/>
              </a:rPr>
              <a:t>Ein Beispiel: Anna schreibt eine Anleitung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2E504-5102-4EA3-955F-F27BD86A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809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87F74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87F7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D31176-D12D-4288-9D47-A5AD3F2D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143125"/>
            <a:ext cx="9382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E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E35"/>
                </a:solidFill>
                <a:latin typeface="Arial"/>
                <a:ea typeface="Arial"/>
                <a:cs typeface="Arial"/>
              </a:rPr>
              <a:t>Anna registriert ihre Datei bei LEVIATH.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A3E23-4C01-4502-B6A1-2143D630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809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87F74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87F7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3B932-0661-49F3-89BB-B57E4833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238500"/>
            <a:ext cx="9382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E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E35"/>
                </a:solidFill>
                <a:latin typeface="Arial"/>
                <a:ea typeface="Arial"/>
                <a:cs typeface="Arial"/>
              </a:rPr>
              <a:t>Die Datei erhält einen digitalen Fingerabdruck.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C2EBB-984A-4725-8BCE-136CD55A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809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87F74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87F7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F250E9-FFCD-4A78-97A8-BDD5D74D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333875"/>
            <a:ext cx="9382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E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E35"/>
                </a:solidFill>
                <a:latin typeface="Arial"/>
                <a:ea typeface="Arial"/>
                <a:cs typeface="Arial"/>
              </a:rPr>
              <a:t>Ein Betreiber vergibt ATH für diesen Beitrag.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67E5CC-50B2-492B-A622-7B64322E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E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E35"/>
                </a:solidFill>
                <a:latin typeface="Arial"/>
                <a:ea typeface="Arial"/>
                <a:cs typeface="Arial"/>
              </a:rPr>
              <a:t>Der Fingerabdruck erkennt die Dateifassung. Den Wert der Arbeit bestimmt eine eigene Regel.</a:t>
            </a:r>
          </a:p>
        </p:txBody>
      </p:sp>
    </p:spTree>
    <p:extLst>
      <p:ext uri="{BB962C8B-B14F-4D97-AF65-F5344CB8AC3E}">
        <p14:creationId xmlns:p14="http://schemas.microsoft.com/office/powerpoint/2010/main" val="3399218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94D3C-44B7-40BF-B7A7-64CF8F9B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2E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E35"/>
                </a:solidFill>
                <a:latin typeface="Arial"/>
                <a:ea typeface="Arial"/>
                <a:cs typeface="Arial"/>
              </a:rPr>
              <a:t>Eine Übertragung mit ATH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762000" y="2095500"/>
          <a:ext xmlns:a="http://schemas.openxmlformats.org/drawingml/2006/main" cx="106680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56000"/>
                <a:gridCol w="3556000"/>
                <a:gridCol w="3556000"/>
              </a:tblGrid>
              <a:tr h="793750"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Guthaben</a:t>
                      </a:r>
                    </a:p>
                  </a:txBody>
                  <a:tcPr marL="91440" marR="91440" marT="45720" marB="45720">
                    <a:solidFill>
                      <a:srgbClr val="087F7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Vorher</a:t>
                      </a:r>
                    </a:p>
                  </a:txBody>
                  <a:tcPr marL="91440" marR="91440" marT="45720" marB="45720">
                    <a:solidFill>
                      <a:srgbClr val="087F7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Nachher</a:t>
                      </a:r>
                    </a:p>
                  </a:txBody>
                  <a:tcPr marL="91440" marR="91440" marT="45720" marB="45720">
                    <a:solidFill>
                      <a:srgbClr val="087F74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152E35"/>
                          </a:solidFill>
                          <a:latin typeface="Arial"/>
                          <a:ea typeface="Arial"/>
                          <a:cs typeface="Arial"/>
                        </a:rPr>
                        <a:t>Anna</a:t>
                      </a:r>
                    </a:p>
                  </a:txBody>
                  <a:tcPr marL="91440" marR="91440" marT="45720" marB="45720">
                    <a:solidFill>
                      <a:srgbClr val="F6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152E35"/>
                          </a:solidFill>
                          <a:latin typeface="Arial"/>
                          <a:ea typeface="Arial"/>
                          <a:cs typeface="Arial"/>
                        </a:rPr>
                        <a:t>10 ATH</a:t>
                      </a:r>
                    </a:p>
                  </a:txBody>
                  <a:tcPr marL="91440" marR="91440" marT="45720" marB="45720">
                    <a:solidFill>
                      <a:srgbClr val="F6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152E35"/>
                          </a:solidFill>
                          <a:latin typeface="Arial"/>
                          <a:ea typeface="Arial"/>
                          <a:cs typeface="Arial"/>
                        </a:rPr>
                        <a:t>7 ATH</a:t>
                      </a:r>
                    </a:p>
                  </a:txBody>
                  <a:tcPr marL="91440" marR="91440" marT="45720" marB="45720">
                    <a:solidFill>
                      <a:srgbClr val="F6F2E9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152E35"/>
                          </a:solidFill>
                          <a:latin typeface="Arial"/>
                          <a:ea typeface="Arial"/>
                          <a:cs typeface="Arial"/>
                        </a:rPr>
                        <a:t>Ben</a:t>
                      </a:r>
                    </a:p>
                  </a:txBody>
                  <a:tcPr marL="91440" marR="91440" marT="45720" marB="45720">
                    <a:solidFill>
                      <a:srgbClr val="F6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152E35"/>
                          </a:solidFill>
                          <a:latin typeface="Arial"/>
                          <a:ea typeface="Arial"/>
                          <a:cs typeface="Arial"/>
                        </a:rPr>
                        <a:t>0 ATH</a:t>
                      </a:r>
                    </a:p>
                  </a:txBody>
                  <a:tcPr marL="91440" marR="91440" marT="45720" marB="45720">
                    <a:solidFill>
                      <a:srgbClr val="F6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152E35"/>
                          </a:solidFill>
                          <a:latin typeface="Arial"/>
                          <a:ea typeface="Arial"/>
                          <a:cs typeface="Arial"/>
                        </a:rPr>
                        <a:t>3 ATH</a:t>
                      </a:r>
                    </a:p>
                  </a:txBody>
                  <a:tcPr marL="91440" marR="91440" marT="45720" marB="45720">
                    <a:solidFill>
                      <a:srgbClr val="F6F2E9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08388F-CA8A-4A7A-B7E8-483E5ECE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E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E35"/>
                </a:solidFill>
                <a:latin typeface="Arial"/>
                <a:ea typeface="Arial"/>
                <a:cs typeface="Arial"/>
              </a:rPr>
              <a:t>Anna gibt 3 ATH weiter. Insgesamt bleiben es 10 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AFA72-B145-485A-8EED-7342ED42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087F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87F74"/>
                </a:solidFill>
                <a:latin typeface="Arial"/>
                <a:ea typeface="Arial"/>
                <a:cs typeface="Arial"/>
              </a:rPr>
              <a:t>In V0.5 beträgt die Protokollgebühr 0 ATH.</a:t>
            </a:r>
          </a:p>
        </p:txBody>
      </p:sp>
    </p:spTree>
    <p:extLst>
      <p:ext uri="{BB962C8B-B14F-4D97-AF65-F5344CB8AC3E}">
        <p14:creationId xmlns:p14="http://schemas.microsoft.com/office/powerpoint/2010/main" val="3245932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63BC05-1740-421C-B858-E68EC56B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2E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E35"/>
                </a:solidFill>
                <a:latin typeface="Arial"/>
                <a:ea typeface="Arial"/>
                <a:cs typeface="Arial"/>
              </a:rPr>
              <a:t>Das Wallet und der digitale Schlüssel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8AF25-057F-496B-84A5-6B47A4C7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52E35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52E35"/>
                </a:solidFill>
                <a:latin typeface="Arial"/>
                <a:ea typeface="Arial"/>
                <a:cs typeface="Arial"/>
              </a:rPr>
              <a:t>Ein Wallet ist ein digitales Konto mit einer Adresse.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698F61-C3BC-4898-9B6C-D56A192A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E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E35"/>
                </a:solidFill>
                <a:latin typeface="Arial"/>
                <a:ea typeface="Arial"/>
                <a:cs typeface="Arial"/>
              </a:rPr>
              <a:t>Ein privater Schlüssel unterschreibt Übertragungen.</a:t>
            </a:r>
          </a:p>
          <a:p xmlns:a="http://schemas.openxmlformats.org/drawingml/2006/main">
            <a:pPr>
              <a:defRPr sz="2550" b="0">
                <a:solidFill>
                  <a:srgbClr val="152E3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E35"/>
                </a:solidFill>
                <a:latin typeface="Arial"/>
                <a:ea typeface="Arial"/>
                <a:cs typeface="Arial"/>
              </a:rPr>
              <a:t>LEVIATH prüft diese Unterschrift und das Guthaben.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A3D8D-BA92-4997-8448-96202FF2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E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E35"/>
                </a:solidFill>
                <a:latin typeface="Arial"/>
                <a:ea typeface="Arial"/>
                <a:cs typeface="Arial"/>
              </a:rPr>
              <a:t>Im jetzigen Prototyp verwaltet derselbe lokale Rechner die Schlüssel. Ein Betrieb mit unabhängigen Teilnehmern steht noch aus.</a:t>
            </a:r>
          </a:p>
        </p:txBody>
      </p:sp>
    </p:spTree>
    <p:extLst>
      <p:ext uri="{BB962C8B-B14F-4D97-AF65-F5344CB8AC3E}">
        <p14:creationId xmlns:p14="http://schemas.microsoft.com/office/powerpoint/2010/main" val="10815499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1DAE8-8F30-4BBA-9CAA-1A4DDD89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2E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E35"/>
                </a:solidFill>
                <a:latin typeface="Arial"/>
                <a:ea typeface="Arial"/>
                <a:cs typeface="Arial"/>
              </a:rPr>
              <a:t>Der Gründeranteil wächst mit dem Netzwerk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B580A-C24C-40C7-BB41-C3297A18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087F74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087F74"/>
                </a:solidFill>
                <a:latin typeface="Arial"/>
                <a:ea typeface="Arial"/>
                <a:cs typeface="Arial"/>
              </a:rPr>
              <a:t>9 ATH + 1 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FE2B36-EE2C-49E0-9DFA-BC9F42A9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52E35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52E35"/>
                </a:solidFill>
                <a:latin typeface="Arial"/>
                <a:ea typeface="Arial"/>
                <a:cs typeface="Arial"/>
              </a:rPr>
              <a:t>9 für das Netzwerk · 1 für den Gründer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FC35A8-0500-47BF-B671-456FEF72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E3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E35"/>
                </a:solidFill>
                <a:latin typeface="Arial"/>
                <a:ea typeface="Arial"/>
                <a:cs typeface="Arial"/>
              </a:rPr>
              <a:t>Beispiel mit 10 % Gründeranteil: Die Freigabe erfolgt gekoppelt.</a:t>
            </a:r>
          </a:p>
          <a:p xmlns:a="http://schemas.openxmlformats.org/drawingml/2006/main">
            <a:pPr>
              <a:defRPr sz="2250" b="0">
                <a:solidFill>
                  <a:srgbClr val="152E3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E35"/>
                </a:solidFill>
                <a:latin typeface="Arial"/>
                <a:ea typeface="Arial"/>
                <a:cs typeface="Arial"/>
              </a:rPr>
              <a:t>Nach dem Startpool endet der besondere Gründerpfad.</a:t>
            </a:r>
          </a:p>
        </p:txBody>
      </p:sp>
    </p:spTree>
    <p:extLst>
      <p:ext uri="{BB962C8B-B14F-4D97-AF65-F5344CB8AC3E}">
        <p14:creationId xmlns:p14="http://schemas.microsoft.com/office/powerpoint/2010/main" val="11628344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52E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0AE66E-E017-41A1-84D3-3CC32754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6F2E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6F2E9"/>
                </a:solidFill>
                <a:latin typeface="Arial"/>
                <a:ea typeface="Arial"/>
                <a:cs typeface="Arial"/>
              </a:rPr>
              <a:t>Zwei von drei Unterschriften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73A82-6B9F-4D05-AA3B-7A05BBBF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9FE1D0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9FE1D0"/>
                </a:solidFill>
                <a:latin typeface="Arial"/>
                <a:ea typeface="Arial"/>
                <a:cs typeface="Arial"/>
              </a:rPr>
              <a:t>2 von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6542A2-FCFD-4A49-89B6-FA94FF3F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F6F2E9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6F2E9"/>
                </a:solidFill>
                <a:latin typeface="Arial"/>
                <a:ea typeface="Arial"/>
                <a:cs typeface="Arial"/>
              </a:rPr>
              <a:t>Ein separater Baustein von LEVIATH:</a:t>
            </a:r>
          </a:p>
          <a:p xmlns:a="http://schemas.openxmlformats.org/drawingml/2006/main">
            <a:pPr>
              <a:defRPr sz="2475" b="0">
                <a:solidFill>
                  <a:srgbClr val="F6F2E9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6F2E9"/>
                </a:solidFill>
                <a:latin typeface="Arial"/>
                <a:ea typeface="Arial"/>
                <a:cs typeface="Arial"/>
              </a:rPr>
              <a:t>Mindestens zwei Knoten müssen einen Blockvorschlag signieren.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16386-1978-4500-8233-16FE06CE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5C9C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5C9C7"/>
                </a:solidFill>
                <a:latin typeface="Arial"/>
                <a:ea typeface="Arial"/>
                <a:cs typeface="Arial"/>
              </a:rPr>
              <a:t>Heute laufen alle drei auf einem Rechner. Die Verbindung mit der ATH-Guthabenverwaltung ist noch offen.</a:t>
            </a:r>
          </a:p>
        </p:txBody>
      </p:sp>
    </p:spTree>
    <p:extLst>
      <p:ext uri="{BB962C8B-B14F-4D97-AF65-F5344CB8AC3E}">
        <p14:creationId xmlns:p14="http://schemas.microsoft.com/office/powerpoint/2010/main" val="993530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260604-9E58-44A3-B464-89726D32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2E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E35"/>
                </a:solidFill>
                <a:latin typeface="Arial"/>
                <a:ea typeface="Arial"/>
                <a:cs typeface="Arial"/>
              </a:rPr>
              <a:t>Was heute schon funktioniert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594396-A32C-474E-94A6-224D6CF0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87F74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87F74"/>
                </a:solidFill>
                <a:latin typeface="Arial"/>
                <a:ea typeface="Arial"/>
                <a:cs typeface="Arial"/>
              </a:rPr>
              <a:t>Wallets anlegen und Guthaben speichern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8FF7D-BAF7-4324-9C63-362E439E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52E35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52E35"/>
                </a:solidFill>
                <a:latin typeface="Arial"/>
                <a:ea typeface="Arial"/>
                <a:cs typeface="Arial"/>
              </a:rPr>
              <a:t>ATH signiert übertragen und den Zustand neu laden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F8985D-9FDE-4001-ADBC-9D6E3CC7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52E35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52E35"/>
                </a:solidFill>
                <a:latin typeface="Arial"/>
                <a:ea typeface="Arial"/>
                <a:cs typeface="Arial"/>
              </a:rPr>
              <a:t>Beiträge vergüten und Gründer-Vesting berechnen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DB3A09-89E9-4D97-B5B1-884D0B01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52E35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52E35"/>
                </a:solidFill>
                <a:latin typeface="Arial"/>
                <a:ea typeface="Arial"/>
                <a:cs typeface="Arial"/>
              </a:rPr>
              <a:t>Einnahmenanteile rechnerisch verteilen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FA189-EB89-4077-889F-6603B8F2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E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E35"/>
                </a:solidFill>
                <a:latin typeface="Arial"/>
                <a:ea typeface="Arial"/>
                <a:cs typeface="Arial"/>
              </a:rPr>
              <a:t>Alle genannten Abläufe wurden mit lokalen Testdaten ausgeführt.</a:t>
            </a:r>
          </a:p>
        </p:txBody>
      </p:sp>
    </p:spTree>
    <p:extLst>
      <p:ext uri="{BB962C8B-B14F-4D97-AF65-F5344CB8AC3E}">
        <p14:creationId xmlns:p14="http://schemas.microsoft.com/office/powerpoint/2010/main" val="7008913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B4225-09F0-41F6-A200-705E48E4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2E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E35"/>
                </a:solidFill>
                <a:latin typeface="Arial"/>
                <a:ea typeface="Arial"/>
                <a:cs typeface="Arial"/>
              </a:rPr>
              <a:t>Wofür ATH gedacht 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6C436-A322-492D-B893-DC45288E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87F74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87F74"/>
                </a:solidFill>
                <a:latin typeface="Arial"/>
                <a:ea typeface="Arial"/>
                <a:cs typeface="Arial"/>
              </a:rPr>
              <a:t>Beiträge nachvollziehbar vergüten.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879FEE-FD58-4304-A319-2006EBF8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52E35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52E35"/>
                </a:solidFill>
                <a:latin typeface="Arial"/>
                <a:ea typeface="Arial"/>
                <a:cs typeface="Arial"/>
              </a:rPr>
              <a:t>ATH zählt die Beteiligung im Ledger.</a:t>
            </a:r>
          </a:p>
          <a:p xmlns:a="http://schemas.openxmlformats.org/drawingml/2006/main">
            <a:pPr>
              <a:defRPr sz="2625" b="0">
                <a:solidFill>
                  <a:srgbClr val="152E35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52E35"/>
                </a:solidFill>
                <a:latin typeface="Arial"/>
                <a:ea typeface="Arial"/>
                <a:cs typeface="Arial"/>
              </a:rPr>
              <a:t>LEVIATH führt die zugehörigen Buchungen.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910FF3-F3EC-4013-B4A4-66C6F7CC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2E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E35"/>
                </a:solidFill>
                <a:latin typeface="Arial"/>
                <a:ea typeface="Arial"/>
                <a:cs typeface="Arial"/>
              </a:rPr>
              <a:t>Für einen öffentlichen Einsatz fehlen noch der gemeinsame Netzbetrieb und Regeln für reale Zahlungen und Rechte.</a:t>
            </a:r>
          </a:p>
        </p:txBody>
      </p:sp>
    </p:spTree>
    <p:extLst>
      <p:ext uri="{BB962C8B-B14F-4D97-AF65-F5344CB8AC3E}">
        <p14:creationId xmlns:p14="http://schemas.microsoft.com/office/powerpoint/2010/main" val="1497398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2026-10-02T23:41:56.7870000Z</dcterms:created>
  <dcterms:modified xsi:type="dcterms:W3CDTF">2026-10-02T23:41:56.7870000Z</dcterms:modified>
</coreProperties>
</file>